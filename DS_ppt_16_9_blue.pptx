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60" r:id="rId4"/>
    <p:sldId id="289" r:id="rId5"/>
    <p:sldId id="269" r:id="rId6"/>
    <p:sldId id="263" r:id="rId7"/>
  </p:sldIdLst>
  <p:sldSz cx="12192000" cy="6858000"/>
  <p:notesSz cx="6858000" cy="9144000"/>
  <p:embeddedFontLst>
    <p:embeddedFont>
      <p:font typeface="맑은 고딕" panose="020B0503020000020004" pitchFamily="34" charset="-127"/>
      <p:regular r:id="rId9"/>
      <p:bold r:id="rId1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pos="234" userDrawn="1">
          <p15:clr>
            <a:srgbClr val="A4A3A4"/>
          </p15:clr>
        </p15:guide>
        <p15:guide id="8" orient="horz" pos="618" userDrawn="1">
          <p15:clr>
            <a:srgbClr val="A4A3A4"/>
          </p15:clr>
        </p15:guide>
        <p15:guide id="9" pos="7174" userDrawn="1">
          <p15:clr>
            <a:srgbClr val="A4A3A4"/>
          </p15:clr>
        </p15:guide>
        <p15:guide id="10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2552"/>
    <a:srgbClr val="CFE2FF"/>
    <a:srgbClr val="BFD8F3"/>
    <a:srgbClr val="072A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16" autoAdjust="0"/>
    <p:restoredTop sz="78776" autoAdjust="0"/>
  </p:normalViewPr>
  <p:slideViewPr>
    <p:cSldViewPr snapToGrid="0" showGuides="1">
      <p:cViewPr varScale="1">
        <p:scale>
          <a:sx n="99" d="100"/>
          <a:sy n="99" d="100"/>
        </p:scale>
        <p:origin x="1368" y="184"/>
      </p:cViewPr>
      <p:guideLst>
        <p:guide pos="234"/>
        <p:guide orient="horz" pos="618"/>
        <p:guide pos="7174"/>
        <p:guide orient="horz" pos="913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912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C0BD32-9E2E-4BC3-A3FB-2EBBE8868A74}" type="datetimeFigureOut">
              <a:rPr lang="ko-KR" altLang="en-US" smtClean="0"/>
              <a:t>2026. 3. 30.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F60491-CF48-4B7C-984D-BA9063B5B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088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F60491-CF48-4B7C-984D-BA9063B5BDE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0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F60491-CF48-4B7C-984D-BA9063B5BDE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375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F60491-CF48-4B7C-984D-BA9063B5BDE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511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F60491-CF48-4B7C-984D-BA9063B5BDE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0075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F60491-CF48-4B7C-984D-BA9063B5BDE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322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F60491-CF48-4B7C-984D-BA9063B5BDE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892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rgbClr val="062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427754-5648-1D0E-F3EB-02306FF76F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E6FBFA-98F3-8DAA-D545-EDF82E835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AD4B22-D1F0-C513-3554-192D8DDAC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192AA6-B6E1-54A9-9CF9-28E91043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91698"/>
            <a:ext cx="2743200" cy="365125"/>
          </a:xfrm>
        </p:spPr>
        <p:txBody>
          <a:bodyPr/>
          <a:lstStyle/>
          <a:p>
            <a:fld id="{BF4DD306-941C-4514-9891-D86491A81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221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FCC59-5E78-B97D-69ED-4AAFEE82A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4182"/>
            <a:ext cx="10515600" cy="74253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45F7F6-37A4-8B83-204F-4DE709949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7702"/>
            <a:ext cx="10515600" cy="47776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8724C3-5E6F-C786-8918-61DAB55D4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EA97C-FCE3-4A1A-B2D5-8A82497E57C2}" type="datetime1">
              <a:rPr lang="ko-KR" altLang="en-US" smtClean="0"/>
              <a:t>2026. 3. 30.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FBCCCC-0AC2-E898-E350-EB6F0FE1F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679EE7-A625-9ECE-8036-4601A2331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DD306-941C-4514-9891-D86491A8105A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06F4BB2-2C8E-13D7-7F91-E1E9DD1CE50D}"/>
              </a:ext>
            </a:extLst>
          </p:cNvPr>
          <p:cNvSpPr/>
          <p:nvPr userDrawn="1"/>
        </p:nvSpPr>
        <p:spPr>
          <a:xfrm>
            <a:off x="1" y="-2595"/>
            <a:ext cx="12192000" cy="365125"/>
          </a:xfrm>
          <a:prstGeom prst="rect">
            <a:avLst/>
          </a:prstGeom>
          <a:solidFill>
            <a:srgbClr val="0625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B52C631-B852-44ED-9222-3E40FB88C5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6241" y="386273"/>
            <a:ext cx="2077967" cy="254340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F90DFB7F-EED2-4B06-9000-39834B4E4502}"/>
              </a:ext>
            </a:extLst>
          </p:cNvPr>
          <p:cNvGrpSpPr/>
          <p:nvPr userDrawn="1"/>
        </p:nvGrpSpPr>
        <p:grpSpPr>
          <a:xfrm flipV="1">
            <a:off x="1" y="6721474"/>
            <a:ext cx="12191998" cy="144140"/>
            <a:chOff x="1" y="6721475"/>
            <a:chExt cx="12191998" cy="136526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9F4E7EC-36F4-4B60-BE58-12BCDD9ECEF2}"/>
                </a:ext>
              </a:extLst>
            </p:cNvPr>
            <p:cNvSpPr/>
            <p:nvPr userDrawn="1"/>
          </p:nvSpPr>
          <p:spPr>
            <a:xfrm>
              <a:off x="1" y="6721475"/>
              <a:ext cx="9633526" cy="136526"/>
            </a:xfrm>
            <a:prstGeom prst="rect">
              <a:avLst/>
            </a:prstGeom>
            <a:solidFill>
              <a:srgbClr val="0625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 Bold" panose="020B0600000101010101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369D9BA-B68E-4F74-9B3E-F6AE6250E90D}"/>
                </a:ext>
              </a:extLst>
            </p:cNvPr>
            <p:cNvSpPr/>
            <p:nvPr userDrawn="1"/>
          </p:nvSpPr>
          <p:spPr>
            <a:xfrm>
              <a:off x="9633527" y="6721475"/>
              <a:ext cx="2558472" cy="13652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8206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FBCD1B-8C35-B43E-F4AB-C13C0DA8B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99275E-4E7D-62C3-1FD5-61831B79E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8C1DB4-42A6-F18B-92EC-41D6235B3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8539C-08DE-4763-96E4-67EE92D23E1A}" type="datetime1">
              <a:rPr lang="ko-KR" altLang="en-US" smtClean="0"/>
              <a:t>2026. 3. 30.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78A239-E5BE-66AA-85B0-3D2761421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5F5C62-5B4C-CACE-5202-DBED60948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DD306-941C-4514-9891-D86491A8105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AC88984-49F8-40F6-89DA-2861D21F274D}"/>
              </a:ext>
            </a:extLst>
          </p:cNvPr>
          <p:cNvCxnSpPr/>
          <p:nvPr userDrawn="1"/>
        </p:nvCxnSpPr>
        <p:spPr>
          <a:xfrm>
            <a:off x="0" y="740833"/>
            <a:ext cx="10447866" cy="0"/>
          </a:xfrm>
          <a:prstGeom prst="line">
            <a:avLst/>
          </a:prstGeom>
          <a:ln w="6350">
            <a:solidFill>
              <a:srgbClr val="062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0F04C68-FAC3-4609-8503-D45E69751577}"/>
              </a:ext>
            </a:extLst>
          </p:cNvPr>
          <p:cNvGrpSpPr/>
          <p:nvPr userDrawn="1"/>
        </p:nvGrpSpPr>
        <p:grpSpPr>
          <a:xfrm flipV="1">
            <a:off x="1" y="6717493"/>
            <a:ext cx="12191998" cy="148121"/>
            <a:chOff x="1" y="6721475"/>
            <a:chExt cx="12191998" cy="136526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E4E67FF-CC7A-411F-83F3-3EE332DA06FA}"/>
                </a:ext>
              </a:extLst>
            </p:cNvPr>
            <p:cNvSpPr/>
            <p:nvPr userDrawn="1"/>
          </p:nvSpPr>
          <p:spPr>
            <a:xfrm>
              <a:off x="1" y="6721475"/>
              <a:ext cx="9633526" cy="136526"/>
            </a:xfrm>
            <a:prstGeom prst="rect">
              <a:avLst/>
            </a:prstGeom>
            <a:solidFill>
              <a:srgbClr val="06255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 Bold" panose="020B0600000101010101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7098236-1CFC-4FB4-AA2C-59ED29AD839E}"/>
                </a:ext>
              </a:extLst>
            </p:cNvPr>
            <p:cNvSpPr/>
            <p:nvPr userDrawn="1"/>
          </p:nvSpPr>
          <p:spPr>
            <a:xfrm>
              <a:off x="9633527" y="6721475"/>
              <a:ext cx="2558472" cy="13652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 Bold" panose="020B0600000101010101" pitchFamily="50" charset="-127"/>
              </a:endParaRPr>
            </a:p>
          </p:txBody>
        </p: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D561442E-8A2E-4AB7-B83E-C6CEDE808F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3111" y="67734"/>
            <a:ext cx="2077967" cy="25434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BFFF7556-7D6D-4588-83BB-F55E43598729}"/>
              </a:ext>
            </a:extLst>
          </p:cNvPr>
          <p:cNvSpPr/>
          <p:nvPr userDrawn="1"/>
        </p:nvSpPr>
        <p:spPr>
          <a:xfrm>
            <a:off x="0" y="140505"/>
            <a:ext cx="393700" cy="462272"/>
          </a:xfrm>
          <a:prstGeom prst="rect">
            <a:avLst/>
          </a:prstGeom>
          <a:solidFill>
            <a:srgbClr val="0625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0287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1F2957-079D-C095-FED7-9AA957F63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6EF8FA-6C21-182E-2215-0CE465A40C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1E39A8A-B937-E676-5449-46E68BB5D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E4A076-8327-DB02-070F-AE24753D2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DB526-1960-4DAA-88BB-817AB880EF9B}" type="datetime1">
              <a:rPr lang="ko-KR" altLang="en-US" smtClean="0"/>
              <a:t>2026. 3. 30.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9FDBC9-EF68-F1DC-9816-7FF1B1FB0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1CCF54-7FE6-B70C-42F1-CA4671F6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DD306-941C-4514-9891-D86491A81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682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FBC18A-C52D-932B-54B1-9F637480E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675AD9-DCDC-46A9-79BE-1439815C5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30F538-FA8A-068D-137F-4C3F005E8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522F4E-A112-7F5D-7E72-2D8E0358B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FC011D0-58A8-CD85-9FFD-876754A286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81E43B-D298-099F-905B-B30486704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8FE57-773C-4397-B3F9-CB32214EBA93}" type="datetime1">
              <a:rPr lang="ko-KR" altLang="en-US" smtClean="0"/>
              <a:t>2026. 3. 30.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FCF3A60-5E78-0E10-DED6-1C13C088E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04A0FEA-2F69-B972-741D-7B8C9A1A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DD306-941C-4514-9891-D86491A81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650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1BB2B5-5EC9-13FD-4656-8A21E3598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0F4866D-9F44-49D5-3766-ADDC6AEAE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FA8A7-AF04-41BF-98C9-281E1D14E5A5}" type="datetime1">
              <a:rPr lang="ko-KR" altLang="en-US" smtClean="0"/>
              <a:t>2026. 3. 30.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5D706B-5E70-7EC5-EED3-2F3E8BC4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F0D9C7-67A5-58D6-9464-ECA5E6C44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DD306-941C-4514-9891-D86491A81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208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87A2D94-D833-8CCF-BABA-09C41FDF1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4ADF-51D9-4DDE-AE3D-64685FCA5F5E}" type="datetime1">
              <a:rPr lang="ko-KR" altLang="en-US" smtClean="0"/>
              <a:t>2026. 3. 30.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EF98F72-444D-9C60-95F1-413977C75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08D38A-609E-41FA-C6F7-E57845A8E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DD306-941C-4514-9891-D86491A81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494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9121AC-CC76-17FF-2C2A-4B03D024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1863DB-65F5-9C52-3743-4DCCEE78F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7C289A-D137-AB14-2CA8-DA8F429E9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1359FB-929B-34D9-9453-41A453F46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F0E7B-8ABE-4B5C-87ED-88B79196F3EA}" type="datetime1">
              <a:rPr lang="ko-KR" altLang="en-US" smtClean="0"/>
              <a:t>2026. 3. 30.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1B6536-4395-B453-3BF5-D568362EA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9AA7AE-5E98-4A57-6187-29AF7E545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DD306-941C-4514-9891-D86491A81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703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B6CA79-A234-DF65-54B8-876FBC14B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D6AD723-8155-F943-55E6-A9853DC85F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2224AA-B641-B91D-2625-18554577B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B5DDEE-48A8-56B5-7077-76969E211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EA4CC-0F9B-41F7-BCAF-46DA7A036076}" type="datetime1">
              <a:rPr lang="ko-KR" altLang="en-US" smtClean="0"/>
              <a:t>2026. 3. 30.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61BCB9-24C0-4DBF-75C2-90077B559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E9B97F-01BC-09D0-9894-F5B367E41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DD306-941C-4514-9891-D86491A81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343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6F79D9-2030-A13E-8A03-87F148FA1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2322D9-D7B3-986B-1B59-9F131AB27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B2E3C7-79BF-D1FC-1C14-8DE5D1B65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28108-2D35-43CC-B257-D182A97E8C5E}" type="datetime1">
              <a:rPr lang="ko-KR" altLang="en-US" smtClean="0"/>
              <a:t>2026. 3. 30.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26D5D3-BC32-15C4-990D-3BD0F41AA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96CB4D-671C-4170-C10E-231A0434E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DD306-941C-4514-9891-D86491A81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420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6FE2A4F-7CC2-E9B2-1846-A5162BEE7B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9FB76B-2459-F13A-FB60-B875CE433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537653-3788-EE4B-1D09-7B5AC6622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00BE-2056-4274-BFFA-C6B3C38F339A}" type="datetime1">
              <a:rPr lang="ko-KR" altLang="en-US" smtClean="0"/>
              <a:t>2026. 3. 30.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DE27BE-1DE4-F085-93B2-C3D889A2F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2BB61F-392F-98A5-843F-C88BBE659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DD306-941C-4514-9891-D86491A81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158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1AC738-7FDD-3A5F-392E-9ADC84570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C6C4B4-CBE6-0510-72C6-E8C1391F6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EF285F-21DB-D68E-69C0-51C65AB4CA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나눔스퀘어 Bold" panose="020B0600000101010101" pitchFamily="50" charset="-127"/>
              </a:defRPr>
            </a:lvl1pPr>
          </a:lstStyle>
          <a:p>
            <a:fld id="{3BA85E6C-75FE-4FD1-AB4B-EAB957CD26EA}" type="datetime1">
              <a:rPr lang="ko-KR" altLang="en-US" smtClean="0"/>
              <a:pPr/>
              <a:t>2026. 3. 30.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4D66AF-CD5F-200B-7D95-315E90304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나눔스퀘어 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D4E537-B2AC-0F63-B8A8-AE83B241CA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나눔스퀘어 Bold" panose="020B0600000101010101" pitchFamily="50" charset="-127"/>
              </a:defRPr>
            </a:lvl1pPr>
          </a:lstStyle>
          <a:p>
            <a:fld id="{BF4DD306-941C-4514-9891-D86491A8105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558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나눔스퀘어 Bold" panose="020B0600000101010101" pitchFamily="50" charset="-127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스퀘어 Bold" panose="020B0600000101010101" pitchFamily="50" charset="-127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스퀘어 Bold" panose="020B0600000101010101" pitchFamily="50" charset="-127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스퀘어 Bold" panose="020B0600000101010101" pitchFamily="50" charset="-127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 Bold" panose="020B0600000101010101" pitchFamily="50" charset="-127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 Bold" panose="020B0600000101010101" pitchFamily="50" charset="-127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85813D-D4A8-1CDC-987B-27A5D69E0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3800" y="1567546"/>
            <a:ext cx="9812020" cy="802428"/>
          </a:xfrm>
          <a:ln>
            <a:solidFill>
              <a:schemeClr val="bg1">
                <a:alpha val="0"/>
              </a:schemeClr>
            </a:solidFill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sz="2800" dirty="0">
                <a:ln w="12700">
                  <a:solidFill>
                    <a:schemeClr val="bg1">
                      <a:alpha val="0"/>
                    </a:schemeClr>
                  </a:solidFill>
                </a:ln>
                <a:latin typeface="+mj-ea"/>
              </a:rPr>
              <a:t>Are Transformers Effective for Time Series Forecasting?</a:t>
            </a:r>
            <a:endParaRPr lang="ko-KR" altLang="en-US" sz="2800" dirty="0">
              <a:ln w="12700">
                <a:solidFill>
                  <a:schemeClr val="bg1">
                    <a:alpha val="0"/>
                  </a:schemeClr>
                </a:solidFill>
              </a:ln>
              <a:latin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5BEC1D9-2952-F316-5661-047D4ED51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08931"/>
            <a:ext cx="9144000" cy="1561028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altLang="ko-KR" sz="16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2026.03.31</a:t>
            </a:r>
          </a:p>
          <a:p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부산대학교</a:t>
            </a:r>
            <a:endParaRPr lang="en-US" altLang="ko-KR" sz="16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  <a:p>
            <a:r>
              <a:rPr lang="ko-KR" altLang="en-US" sz="16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데이터사이언스전문대학원</a:t>
            </a:r>
            <a:endParaRPr lang="en-US" altLang="ko-KR" sz="16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  <a:p>
            <a:r>
              <a:rPr lang="ko-KR" altLang="en-US" sz="16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석사과정 박진호</a:t>
            </a:r>
            <a:endParaRPr lang="en-US" altLang="ko-KR" sz="16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6EA94D5-A1F9-16DC-DDC7-A64DC7B67188}"/>
              </a:ext>
            </a:extLst>
          </p:cNvPr>
          <p:cNvCxnSpPr>
            <a:cxnSpLocks/>
          </p:cNvCxnSpPr>
          <p:nvPr/>
        </p:nvCxnSpPr>
        <p:spPr>
          <a:xfrm>
            <a:off x="1193800" y="2343446"/>
            <a:ext cx="9812020" cy="0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텍스트, 폰트, 로고, 그래픽이(가) 표시된 사진&#10;&#10;자동 생성된 설명">
            <a:extLst>
              <a:ext uri="{FF2B5EF4-FFF2-40B4-BE49-F238E27FC236}">
                <a16:creationId xmlns:a16="http://schemas.microsoft.com/office/drawing/2014/main" id="{0D889FC5-7437-D55B-6B43-24CC7D4F019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054" y="28961"/>
            <a:ext cx="2030961" cy="5115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B751C5-E257-AF27-3F29-8DC9541F93BD}"/>
              </a:ext>
            </a:extLst>
          </p:cNvPr>
          <p:cNvSpPr txBox="1"/>
          <p:nvPr/>
        </p:nvSpPr>
        <p:spPr>
          <a:xfrm>
            <a:off x="4211216" y="2416629"/>
            <a:ext cx="37695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+mn-ea"/>
              </a:rPr>
              <a:t>Ailing</a:t>
            </a:r>
            <a:r>
              <a:rPr lang="ko-KR" altLang="en-US" sz="16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600" dirty="0">
                <a:solidFill>
                  <a:schemeClr val="bg1"/>
                </a:solidFill>
                <a:latin typeface="+mn-ea"/>
              </a:rPr>
              <a:t>Zeng</a:t>
            </a:r>
            <a:r>
              <a:rPr lang="ko-KR" altLang="en-US" sz="16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600" dirty="0">
                <a:solidFill>
                  <a:schemeClr val="bg1"/>
                </a:solidFill>
                <a:latin typeface="+mn-ea"/>
              </a:rPr>
              <a:t>et</a:t>
            </a:r>
            <a:r>
              <a:rPr lang="ko-KR" altLang="en-US" sz="16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600" dirty="0">
                <a:solidFill>
                  <a:schemeClr val="bg1"/>
                </a:solidFill>
                <a:latin typeface="+mn-ea"/>
              </a:rPr>
              <a:t>al.,</a:t>
            </a:r>
            <a:r>
              <a:rPr lang="ko-KR" altLang="en-US" sz="16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600" dirty="0">
                <a:solidFill>
                  <a:schemeClr val="bg1"/>
                </a:solidFill>
                <a:latin typeface="+mn-ea"/>
              </a:rPr>
              <a:t>AAAI</a:t>
            </a:r>
            <a:r>
              <a:rPr lang="ko-KR" altLang="en-US" sz="16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600" dirty="0">
                <a:solidFill>
                  <a:schemeClr val="bg1"/>
                </a:solidFill>
                <a:latin typeface="+mn-ea"/>
              </a:rPr>
              <a:t>2023</a:t>
            </a:r>
            <a:endParaRPr lang="ko-KR" altLang="en-US" sz="16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56846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407A33-3563-5C56-95C5-6350FB5FA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DD306-941C-4514-9891-D86491A8105A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C6F814B-A0A7-D01F-466D-AEE987F6C171}"/>
              </a:ext>
            </a:extLst>
          </p:cNvPr>
          <p:cNvCxnSpPr/>
          <p:nvPr/>
        </p:nvCxnSpPr>
        <p:spPr>
          <a:xfrm>
            <a:off x="327738" y="672193"/>
            <a:ext cx="2939143" cy="0"/>
          </a:xfrm>
          <a:prstGeom prst="line">
            <a:avLst/>
          </a:prstGeom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DB61010-1F74-7B2B-E795-706874FF21A1}"/>
              </a:ext>
            </a:extLst>
          </p:cNvPr>
          <p:cNvCxnSpPr/>
          <p:nvPr/>
        </p:nvCxnSpPr>
        <p:spPr>
          <a:xfrm>
            <a:off x="327738" y="1368614"/>
            <a:ext cx="2939143" cy="0"/>
          </a:xfrm>
          <a:prstGeom prst="line">
            <a:avLst/>
          </a:prstGeom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29330F7-C804-B53A-1ECB-582A3D64717E}"/>
              </a:ext>
            </a:extLst>
          </p:cNvPr>
          <p:cNvSpPr txBox="1"/>
          <p:nvPr/>
        </p:nvSpPr>
        <p:spPr>
          <a:xfrm>
            <a:off x="327738" y="726169"/>
            <a:ext cx="29391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ln>
                  <a:solidFill>
                    <a:schemeClr val="tx1">
                      <a:alpha val="0"/>
                    </a:scheme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CONTENTS</a:t>
            </a:r>
            <a:endParaRPr lang="ko-KR" altLang="en-US" sz="3200" dirty="0">
              <a:ln>
                <a:solidFill>
                  <a:schemeClr val="tx1">
                    <a:alpha val="0"/>
                  </a:schemeClr>
                </a:solidFill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882C89-760C-076E-D19E-2D123244F0FC}"/>
              </a:ext>
            </a:extLst>
          </p:cNvPr>
          <p:cNvSpPr txBox="1"/>
          <p:nvPr/>
        </p:nvSpPr>
        <p:spPr>
          <a:xfrm>
            <a:off x="1321222" y="1958595"/>
            <a:ext cx="4373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</a:rPr>
              <a:t>Introduction</a:t>
            </a:r>
            <a:r>
              <a:rPr lang="ko-KR" altLang="en-US" sz="20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</a:rPr>
              <a:t> 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FB97431-23EC-41FD-A145-ACBB72A5CE67}"/>
              </a:ext>
            </a:extLst>
          </p:cNvPr>
          <p:cNvGrpSpPr/>
          <p:nvPr/>
        </p:nvGrpSpPr>
        <p:grpSpPr>
          <a:xfrm>
            <a:off x="738204" y="1976681"/>
            <a:ext cx="360000" cy="363938"/>
            <a:chOff x="738204" y="1988837"/>
            <a:chExt cx="297000" cy="297000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65B7AB69-2142-4985-97DE-03F81A75B1AC}"/>
                </a:ext>
              </a:extLst>
            </p:cNvPr>
            <p:cNvSpPr/>
            <p:nvPr/>
          </p:nvSpPr>
          <p:spPr>
            <a:xfrm>
              <a:off x="738204" y="1988837"/>
              <a:ext cx="297000" cy="297000"/>
            </a:xfrm>
            <a:prstGeom prst="roundRect">
              <a:avLst>
                <a:gd name="adj" fmla="val 12828"/>
              </a:avLst>
            </a:prstGeom>
            <a:solidFill>
              <a:srgbClr val="062552"/>
            </a:solidFill>
            <a:ln>
              <a:solidFill>
                <a:srgbClr val="005023">
                  <a:alpha val="0"/>
                </a:srgb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C4800FF-A570-4358-8DE2-8FF17027E78D}"/>
                </a:ext>
              </a:extLst>
            </p:cNvPr>
            <p:cNvSpPr txBox="1"/>
            <p:nvPr/>
          </p:nvSpPr>
          <p:spPr>
            <a:xfrm>
              <a:off x="738204" y="2005474"/>
              <a:ext cx="297000" cy="263726"/>
            </a:xfrm>
            <a:prstGeom prst="rect">
              <a:avLst/>
            </a:prstGeom>
            <a:noFill/>
            <a:ln>
              <a:solidFill>
                <a:schemeClr val="bg1">
                  <a:alpha val="0"/>
                </a:scheme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500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ko-KR" altLang="en-US" sz="15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7CEA10FD-F8BE-C1E6-988D-6C826F62240E}"/>
              </a:ext>
            </a:extLst>
          </p:cNvPr>
          <p:cNvSpPr txBox="1"/>
          <p:nvPr/>
        </p:nvSpPr>
        <p:spPr>
          <a:xfrm>
            <a:off x="1321222" y="2834551"/>
            <a:ext cx="4373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</a:rPr>
              <a:t>Background</a:t>
            </a:r>
            <a:endParaRPr lang="ko-KR" altLang="en-US" sz="2000" dirty="0">
              <a:ln>
                <a:solidFill>
                  <a:schemeClr val="tx1">
                    <a:alpha val="0"/>
                  </a:schemeClr>
                </a:solidFill>
              </a:ln>
              <a:latin typeface="+mj-ea"/>
              <a:ea typeface="+mj-ea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F74797D-51D5-4B86-9A8A-342E20CE7179}"/>
              </a:ext>
            </a:extLst>
          </p:cNvPr>
          <p:cNvGrpSpPr/>
          <p:nvPr/>
        </p:nvGrpSpPr>
        <p:grpSpPr>
          <a:xfrm>
            <a:off x="737168" y="2852637"/>
            <a:ext cx="360000" cy="363938"/>
            <a:chOff x="739240" y="2737996"/>
            <a:chExt cx="297000" cy="297000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D2494C50-9392-4369-AAEB-FA99ECFA871D}"/>
                </a:ext>
              </a:extLst>
            </p:cNvPr>
            <p:cNvSpPr/>
            <p:nvPr/>
          </p:nvSpPr>
          <p:spPr>
            <a:xfrm>
              <a:off x="739240" y="2737996"/>
              <a:ext cx="297000" cy="297000"/>
            </a:xfrm>
            <a:prstGeom prst="roundRect">
              <a:avLst>
                <a:gd name="adj" fmla="val 12828"/>
              </a:avLst>
            </a:prstGeom>
            <a:solidFill>
              <a:srgbClr val="062552"/>
            </a:solidFill>
            <a:ln>
              <a:solidFill>
                <a:srgbClr val="005023">
                  <a:alpha val="0"/>
                </a:srgb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2958432-2CF8-4F55-B1FC-5363D6BF3C4A}"/>
                </a:ext>
              </a:extLst>
            </p:cNvPr>
            <p:cNvSpPr txBox="1"/>
            <p:nvPr/>
          </p:nvSpPr>
          <p:spPr>
            <a:xfrm>
              <a:off x="739240" y="2754633"/>
              <a:ext cx="297000" cy="263726"/>
            </a:xfrm>
            <a:prstGeom prst="rect">
              <a:avLst/>
            </a:prstGeom>
            <a:noFill/>
            <a:ln>
              <a:solidFill>
                <a:schemeClr val="bg1">
                  <a:alpha val="0"/>
                </a:scheme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500" dirty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ko-KR" altLang="en-US" sz="15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8D2F1F5-7052-B088-864F-4FAAA6D9507A}"/>
              </a:ext>
            </a:extLst>
          </p:cNvPr>
          <p:cNvSpPr txBox="1"/>
          <p:nvPr/>
        </p:nvSpPr>
        <p:spPr>
          <a:xfrm>
            <a:off x="1321222" y="3710507"/>
            <a:ext cx="4373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</a:rPr>
              <a:t>LSTF-Linear</a:t>
            </a:r>
            <a:endParaRPr lang="ko-KR" altLang="en-US" sz="2000" dirty="0">
              <a:ln>
                <a:solidFill>
                  <a:schemeClr val="tx1">
                    <a:alpha val="0"/>
                  </a:schemeClr>
                </a:solidFill>
              </a:ln>
              <a:latin typeface="+mj-ea"/>
              <a:ea typeface="+mj-ea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36F40B9-854E-4B4E-A64C-74608B3464A9}"/>
              </a:ext>
            </a:extLst>
          </p:cNvPr>
          <p:cNvGrpSpPr/>
          <p:nvPr/>
        </p:nvGrpSpPr>
        <p:grpSpPr>
          <a:xfrm>
            <a:off x="722950" y="3728593"/>
            <a:ext cx="360000" cy="363938"/>
            <a:chOff x="737168" y="3487155"/>
            <a:chExt cx="297000" cy="297000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B6812062-BC91-4882-8CCA-7CBACE0E7C98}"/>
                </a:ext>
              </a:extLst>
            </p:cNvPr>
            <p:cNvSpPr/>
            <p:nvPr/>
          </p:nvSpPr>
          <p:spPr>
            <a:xfrm>
              <a:off x="737168" y="3487155"/>
              <a:ext cx="297000" cy="297000"/>
            </a:xfrm>
            <a:prstGeom prst="roundRect">
              <a:avLst>
                <a:gd name="adj" fmla="val 12828"/>
              </a:avLst>
            </a:prstGeom>
            <a:solidFill>
              <a:srgbClr val="062552"/>
            </a:solidFill>
            <a:ln>
              <a:solidFill>
                <a:srgbClr val="005023">
                  <a:alpha val="0"/>
                </a:srgb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CA9C6C9-A226-46C9-A741-FFA203219125}"/>
                </a:ext>
              </a:extLst>
            </p:cNvPr>
            <p:cNvSpPr txBox="1"/>
            <p:nvPr/>
          </p:nvSpPr>
          <p:spPr>
            <a:xfrm>
              <a:off x="737168" y="3503792"/>
              <a:ext cx="297000" cy="263726"/>
            </a:xfrm>
            <a:prstGeom prst="rect">
              <a:avLst/>
            </a:prstGeom>
            <a:noFill/>
            <a:ln>
              <a:solidFill>
                <a:schemeClr val="bg1">
                  <a:alpha val="0"/>
                </a:scheme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500" dirty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ko-KR" altLang="en-US" sz="15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986F7CC-6A48-7BA1-B6E1-5B10462CADBE}"/>
              </a:ext>
            </a:extLst>
          </p:cNvPr>
          <p:cNvSpPr txBox="1"/>
          <p:nvPr/>
        </p:nvSpPr>
        <p:spPr>
          <a:xfrm>
            <a:off x="1321222" y="4586463"/>
            <a:ext cx="4373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</a:rPr>
              <a:t>Experiments</a:t>
            </a:r>
            <a:endParaRPr lang="ko-KR" altLang="en-US" sz="2000" dirty="0">
              <a:ln>
                <a:solidFill>
                  <a:schemeClr val="tx1">
                    <a:alpha val="0"/>
                  </a:schemeClr>
                </a:solidFill>
              </a:ln>
              <a:latin typeface="+mj-ea"/>
              <a:ea typeface="+mj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47AA723-CFBE-4081-B570-3B98A10D998E}"/>
              </a:ext>
            </a:extLst>
          </p:cNvPr>
          <p:cNvGrpSpPr/>
          <p:nvPr/>
        </p:nvGrpSpPr>
        <p:grpSpPr>
          <a:xfrm>
            <a:off x="737168" y="4604549"/>
            <a:ext cx="360000" cy="363938"/>
            <a:chOff x="737733" y="4236314"/>
            <a:chExt cx="297000" cy="297000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3F79925B-7A26-412B-A580-456FD495923D}"/>
                </a:ext>
              </a:extLst>
            </p:cNvPr>
            <p:cNvSpPr/>
            <p:nvPr/>
          </p:nvSpPr>
          <p:spPr>
            <a:xfrm>
              <a:off x="737733" y="4236314"/>
              <a:ext cx="297000" cy="297000"/>
            </a:xfrm>
            <a:prstGeom prst="roundRect">
              <a:avLst>
                <a:gd name="adj" fmla="val 12828"/>
              </a:avLst>
            </a:prstGeom>
            <a:solidFill>
              <a:srgbClr val="062552"/>
            </a:solidFill>
            <a:ln>
              <a:solidFill>
                <a:srgbClr val="005023">
                  <a:alpha val="0"/>
                </a:srgb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7F50182-718C-442D-8950-74F4BAA93401}"/>
                </a:ext>
              </a:extLst>
            </p:cNvPr>
            <p:cNvSpPr txBox="1"/>
            <p:nvPr/>
          </p:nvSpPr>
          <p:spPr>
            <a:xfrm>
              <a:off x="737733" y="4252951"/>
              <a:ext cx="297000" cy="263726"/>
            </a:xfrm>
            <a:prstGeom prst="rect">
              <a:avLst/>
            </a:prstGeom>
            <a:noFill/>
            <a:ln>
              <a:solidFill>
                <a:schemeClr val="bg1">
                  <a:alpha val="0"/>
                </a:scheme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500" dirty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ko-KR" altLang="en-US" sz="15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F19BF3A-138A-523D-8E2F-7E23B1217744}"/>
              </a:ext>
            </a:extLst>
          </p:cNvPr>
          <p:cNvSpPr txBox="1"/>
          <p:nvPr/>
        </p:nvSpPr>
        <p:spPr>
          <a:xfrm>
            <a:off x="1321222" y="5462418"/>
            <a:ext cx="4373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</a:rPr>
              <a:t>Conclusion</a:t>
            </a:r>
            <a:endParaRPr lang="ko-KR" altLang="en-US" sz="2000" dirty="0">
              <a:ln>
                <a:solidFill>
                  <a:schemeClr val="tx1">
                    <a:alpha val="0"/>
                  </a:schemeClr>
                </a:solidFill>
              </a:ln>
              <a:latin typeface="+mj-ea"/>
              <a:ea typeface="+mj-ea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95AEC417-FAFB-486A-B2F5-625B9BD72BB0}"/>
              </a:ext>
            </a:extLst>
          </p:cNvPr>
          <p:cNvGrpSpPr/>
          <p:nvPr/>
        </p:nvGrpSpPr>
        <p:grpSpPr>
          <a:xfrm>
            <a:off x="737168" y="5480505"/>
            <a:ext cx="360000" cy="363938"/>
            <a:chOff x="735661" y="4985472"/>
            <a:chExt cx="297000" cy="297000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7963CB80-EAB3-45E5-8DEF-7FC0BF0A6A3B}"/>
                </a:ext>
              </a:extLst>
            </p:cNvPr>
            <p:cNvSpPr/>
            <p:nvPr/>
          </p:nvSpPr>
          <p:spPr>
            <a:xfrm>
              <a:off x="735661" y="4985472"/>
              <a:ext cx="297000" cy="297000"/>
            </a:xfrm>
            <a:prstGeom prst="roundRect">
              <a:avLst>
                <a:gd name="adj" fmla="val 12828"/>
              </a:avLst>
            </a:prstGeom>
            <a:solidFill>
              <a:srgbClr val="062552"/>
            </a:solidFill>
            <a:ln>
              <a:solidFill>
                <a:srgbClr val="005023">
                  <a:alpha val="0"/>
                </a:srgb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B55E048-0A34-4DA4-9693-E4230B406FAB}"/>
                </a:ext>
              </a:extLst>
            </p:cNvPr>
            <p:cNvSpPr txBox="1"/>
            <p:nvPr/>
          </p:nvSpPr>
          <p:spPr>
            <a:xfrm>
              <a:off x="735661" y="5002109"/>
              <a:ext cx="297000" cy="263726"/>
            </a:xfrm>
            <a:prstGeom prst="rect">
              <a:avLst/>
            </a:prstGeom>
            <a:noFill/>
            <a:ln>
              <a:solidFill>
                <a:schemeClr val="bg1">
                  <a:alpha val="0"/>
                </a:scheme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500" dirty="0">
                  <a:solidFill>
                    <a:schemeClr val="bg1"/>
                  </a:solidFill>
                  <a:latin typeface="+mj-ea"/>
                  <a:ea typeface="+mj-ea"/>
                </a:rPr>
                <a:t>5</a:t>
              </a:r>
              <a:endParaRPr lang="ko-KR" altLang="en-US" sz="15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1960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84AE5C-B506-9415-2EF6-9FB4A08B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DD306-941C-4514-9891-D86491A8105A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646A13-940F-40FB-8E1B-8AF4C5C39394}"/>
              </a:ext>
            </a:extLst>
          </p:cNvPr>
          <p:cNvSpPr txBox="1"/>
          <p:nvPr/>
        </p:nvSpPr>
        <p:spPr>
          <a:xfrm>
            <a:off x="646642" y="176114"/>
            <a:ext cx="4373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en-US" altLang="ko-KR" sz="2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</a:rPr>
              <a:t>Introduction</a:t>
            </a:r>
            <a:r>
              <a:rPr lang="ko-KR" altLang="en-US" sz="2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72CA51-10B5-4A25-7EC9-114814728218}"/>
              </a:ext>
            </a:extLst>
          </p:cNvPr>
          <p:cNvSpPr txBox="1"/>
          <p:nvPr/>
        </p:nvSpPr>
        <p:spPr>
          <a:xfrm>
            <a:off x="384174" y="988428"/>
            <a:ext cx="11041064" cy="1580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Paper Introduction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Released on </a:t>
            </a:r>
            <a:r>
              <a:rPr lang="en-US" altLang="ko-KR" sz="160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ArXiv</a:t>
            </a:r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on May 26, 2022, presented at the 2023 AAAI Conference.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The paper's author, Ailing Zeng et al., is a research team mainly conducting research on time series.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Citations: 1146</a:t>
            </a:r>
            <a:endParaRPr lang="en-US" altLang="ko-KR" sz="1600" b="1" dirty="0">
              <a:ln>
                <a:solidFill>
                  <a:schemeClr val="tx1">
                    <a:alpha val="0"/>
                  </a:schemeClr>
                </a:solidFill>
              </a:ln>
              <a:latin typeface="나눔스퀘어 Bold" panose="020B0600000101010101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5B34455-1576-9CF9-BBD4-A67789001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494" y="3239021"/>
            <a:ext cx="4459011" cy="311732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58761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84AE5C-B506-9415-2EF6-9FB4A08B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DD306-941C-4514-9891-D86491A8105A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646A13-940F-40FB-8E1B-8AF4C5C39394}"/>
              </a:ext>
            </a:extLst>
          </p:cNvPr>
          <p:cNvSpPr txBox="1"/>
          <p:nvPr/>
        </p:nvSpPr>
        <p:spPr>
          <a:xfrm>
            <a:off x="646642" y="176114"/>
            <a:ext cx="4373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romanUcPeriod" startAt="2"/>
            </a:pPr>
            <a:r>
              <a:rPr lang="en-US" altLang="ko-KR" sz="2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</a:rPr>
              <a:t>Background</a:t>
            </a:r>
            <a:r>
              <a:rPr lang="ko-KR" altLang="en-US" sz="24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+mj-ea"/>
                <a:ea typeface="+mj-ea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72CA51-10B5-4A25-7EC9-114814728218}"/>
              </a:ext>
            </a:extLst>
          </p:cNvPr>
          <p:cNvSpPr txBox="1"/>
          <p:nvPr/>
        </p:nvSpPr>
        <p:spPr>
          <a:xfrm>
            <a:off x="384174" y="988428"/>
            <a:ext cx="11041064" cy="1580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Time-series data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</a:rPr>
              <a:t>A time series refers to a sequence of data points indexed in a discrete-time order.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나눔스퀘어 Bold" panose="020B0600000101010101" pitchFamily="50" charset="-127"/>
              </a:rPr>
              <a:t>The data points are time-stamped, and consecutive observations are correlated.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43451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31E8477-9009-2A7C-F891-978392E00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99730" y="3042036"/>
            <a:ext cx="4459213" cy="812483"/>
          </a:xfrm>
          <a:ln>
            <a:solidFill>
              <a:schemeClr val="bg1">
                <a:alpha val="0"/>
              </a:schemeClr>
            </a:solidFill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sz="5400" dirty="0">
                <a:ln>
                  <a:solidFill>
                    <a:schemeClr val="bg1">
                      <a:alpha val="0"/>
                    </a:scheme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Q &amp; A</a:t>
            </a:r>
            <a:endParaRPr lang="ko-KR" altLang="en-US" sz="5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B385270-0274-955F-5ADF-E4E21A614A32}"/>
              </a:ext>
            </a:extLst>
          </p:cNvPr>
          <p:cNvCxnSpPr>
            <a:cxnSpLocks/>
          </p:cNvCxnSpPr>
          <p:nvPr/>
        </p:nvCxnSpPr>
        <p:spPr>
          <a:xfrm>
            <a:off x="4167187" y="2971184"/>
            <a:ext cx="385762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B12FC79-6B42-64A5-02EB-F2C6CD295E9E}"/>
              </a:ext>
            </a:extLst>
          </p:cNvPr>
          <p:cNvCxnSpPr>
            <a:cxnSpLocks/>
          </p:cNvCxnSpPr>
          <p:nvPr/>
        </p:nvCxnSpPr>
        <p:spPr>
          <a:xfrm>
            <a:off x="4167187" y="3931803"/>
            <a:ext cx="385762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753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85813D-D4A8-1CDC-987B-27A5D69E0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07585" y="3022758"/>
            <a:ext cx="4393135" cy="812483"/>
          </a:xfrm>
          <a:ln>
            <a:solidFill>
              <a:schemeClr val="bg1">
                <a:alpha val="0"/>
              </a:schemeClr>
            </a:solidFill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sz="5400" dirty="0">
                <a:ln>
                  <a:solidFill>
                    <a:schemeClr val="bg1">
                      <a:alpha val="0"/>
                    </a:schemeClr>
                  </a:solidFill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THANK YOU</a:t>
            </a:r>
            <a:endParaRPr lang="ko-KR" altLang="en-US" sz="5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0C6BE34-B2EF-CEFF-E9F9-BF621D64FB4B}"/>
              </a:ext>
            </a:extLst>
          </p:cNvPr>
          <p:cNvCxnSpPr>
            <a:cxnSpLocks/>
          </p:cNvCxnSpPr>
          <p:nvPr/>
        </p:nvCxnSpPr>
        <p:spPr>
          <a:xfrm>
            <a:off x="4004627" y="2950400"/>
            <a:ext cx="4182696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01E1DCF-ECAB-2D54-CBAB-8AF69AC4D69B}"/>
              </a:ext>
            </a:extLst>
          </p:cNvPr>
          <p:cNvCxnSpPr>
            <a:cxnSpLocks/>
          </p:cNvCxnSpPr>
          <p:nvPr/>
        </p:nvCxnSpPr>
        <p:spPr>
          <a:xfrm>
            <a:off x="4004627" y="3911019"/>
            <a:ext cx="4182696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680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따뜻한 파란색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사용자 지정 1">
      <a:majorFont>
        <a:latin typeface="나눔스퀘어"/>
        <a:ea typeface="나눔스퀘어 ExtraBold"/>
        <a:cs typeface=""/>
      </a:majorFont>
      <a:minorFont>
        <a:latin typeface="나눔스퀘어"/>
        <a:ea typeface="나눔스퀘어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5006</TotalTime>
  <Words>118</Words>
  <Application>Microsoft Macintosh PowerPoint</Application>
  <PresentationFormat>와이드스크린</PresentationFormat>
  <Paragraphs>37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Wingdings</vt:lpstr>
      <vt:lpstr>맑은 고딕</vt:lpstr>
      <vt:lpstr>나눔스퀘어 Bold</vt:lpstr>
      <vt:lpstr>Arial</vt:lpstr>
      <vt:lpstr>나눔스퀘어 ExtraBold</vt:lpstr>
      <vt:lpstr>Office 테마</vt:lpstr>
      <vt:lpstr>Are Transformers Effective for Time Series Forecasting?</vt:lpstr>
      <vt:lpstr>PowerPoint 프레젠테이션</vt:lpstr>
      <vt:lpstr>PowerPoint 프레젠테이션</vt:lpstr>
      <vt:lpstr>PowerPoint 프레젠테이션</vt:lpstr>
      <vt:lpstr>Q &amp; 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박은희</dc:creator>
  <cp:lastModifiedBy>박 진호</cp:lastModifiedBy>
  <cp:revision>89</cp:revision>
  <dcterms:created xsi:type="dcterms:W3CDTF">2024-03-22T07:28:42Z</dcterms:created>
  <dcterms:modified xsi:type="dcterms:W3CDTF">2026-03-30T09:54:15Z</dcterms:modified>
</cp:coreProperties>
</file>